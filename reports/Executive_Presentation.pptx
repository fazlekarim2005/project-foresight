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234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Aptos"/>
              </a:rPr>
              <a:t>PROJECT FORESIGHT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65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0">
                <a:solidFill>
                  <a:srgbClr val="CDDCE8"/>
                </a:solidFill>
                <a:latin typeface="Aptos"/>
              </a:rPr>
              <a:t>Demand &amp; Inventory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889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FFFFFF"/>
                </a:solidFill>
                <a:latin typeface="Aptos"/>
              </a:rPr>
              <a:t>NorthBay Living  •  Executive Readout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389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Aptos"/>
              </a:rPr>
              <a:t>Team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800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DDCE8"/>
                </a:solidFill>
                <a:latin typeface="Aptos"/>
              </a:rPr>
              <a:t>Analysis period: 2024–2025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77484"/>
                </a:solidFill>
                <a:latin typeface="Aptos"/>
              </a:rPr>
              <a:t>Project FORESIGHT  |  NorthBay Living  |  Team 22  |  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2223A"/>
                </a:solidFill>
                <a:latin typeface="Apto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77484"/>
                </a:solidFill>
                <a:latin typeface="Aptos"/>
              </a:rPr>
              <a:t>What the data says and where planning attention is concentrated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965960" cy="128016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73152" cy="1280160"/>
          </a:xfrm>
          <a:prstGeom prst="rect">
            <a:avLst/>
          </a:prstGeom>
          <a:solidFill>
            <a:srgbClr val="26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77484"/>
                </a:solidFill>
                <a:latin typeface="Aptos"/>
              </a:rPr>
              <a:t>TOTAL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1051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2223A"/>
                </a:solidFill>
                <a:latin typeface="Aptos"/>
              </a:rPr>
              <a:t>₹26.97 Cr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371600"/>
            <a:ext cx="1965960" cy="128016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80360" y="1371600"/>
            <a:ext cx="73152" cy="1280160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150876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77484"/>
                </a:solidFill>
                <a:latin typeface="Aptos"/>
              </a:rPr>
              <a:t>DEMAND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81051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2223A"/>
                </a:solidFill>
                <a:latin typeface="Aptos"/>
              </a:rPr>
              <a:t>107,885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371600"/>
            <a:ext cx="1965960" cy="128016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0" y="1371600"/>
            <a:ext cx="73152" cy="1280160"/>
          </a:xfrm>
          <a:prstGeom prst="rect">
            <a:avLst/>
          </a:prstGeom>
          <a:solidFill>
            <a:srgbClr val="B1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150876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77484"/>
                </a:solidFill>
                <a:latin typeface="Aptos"/>
              </a:rPr>
              <a:t>STOCKOUT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181051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2223A"/>
                </a:solidFill>
                <a:latin typeface="Aptos"/>
              </a:rPr>
              <a:t>31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1371600"/>
            <a:ext cx="1965960" cy="128016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0920" y="1371600"/>
            <a:ext cx="73152" cy="1280160"/>
          </a:xfrm>
          <a:prstGeom prst="rect">
            <a:avLst/>
          </a:prstGeom>
          <a:solidFill>
            <a:srgbClr val="BE8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150876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77484"/>
                </a:solidFill>
                <a:latin typeface="Aptos"/>
              </a:rPr>
              <a:t>OVERSTOCK RECORDS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181051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2223A"/>
                </a:solidFill>
                <a:latin typeface="Aptos"/>
              </a:rPr>
              <a:t>507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371600"/>
            <a:ext cx="1965960" cy="128016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1371600"/>
            <a:ext cx="73152" cy="1280160"/>
          </a:xfrm>
          <a:prstGeom prst="rect">
            <a:avLst/>
          </a:prstGeom>
          <a:solidFill>
            <a:srgbClr val="31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29800" y="150876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77484"/>
                </a:solidFill>
                <a:latin typeface="Aptos"/>
              </a:rPr>
              <a:t>UNIQUE SKUs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1810512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2223A"/>
                </a:solidFill>
                <a:latin typeface="Aptos"/>
              </a:rPr>
              <a:t>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2971800"/>
            <a:ext cx="10515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• Grocery leads revenue and demand, while also recording the highest number of stockout records.</a:t>
            </a:r>
          </a:p>
          <a:p>
            <a:pPr>
              <a:spcAft>
                <a:spcPts val="11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• Electronics has the largest overstock burden, with 281 overstock records.</a:t>
            </a:r>
          </a:p>
          <a:p>
            <a:pPr>
              <a:spcAft>
                <a:spcPts val="11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• Home &amp; Kitchen has 150 overstock records, indicating a need for inventory rationalisation.</a:t>
            </a:r>
          </a:p>
          <a:p>
            <a:pPr>
              <a:spcAft>
                <a:spcPts val="1100"/>
              </a:spcAft>
              <a:defRPr sz="1500">
                <a:solidFill>
                  <a:srgbClr val="232B34"/>
                </a:solidFill>
                <a:latin typeface="Aptos"/>
              </a:defRPr>
            </a:pPr>
            <a:r>
              <a:t>• Planning outputs already include 7-day forecast, safety stock, reorder point, order quantity and risk/action fields.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77484"/>
                </a:solidFill>
                <a:latin typeface="Aptos"/>
              </a:rPr>
              <a:t>Project FORESIGHT  |  NorthBay Living  |  Team 22  |  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2223A"/>
                </a:solidFill>
                <a:latin typeface="Aptos"/>
              </a:rPr>
              <a:t>Business Problem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77484"/>
                </a:solidFill>
                <a:latin typeface="Aptos"/>
              </a:rPr>
              <a:t>Move from spreadsheet/gut-feel decisions toward repeatable planning signals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83280" cy="18288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1828800"/>
          </a:xfrm>
          <a:prstGeom prst="rect">
            <a:avLst/>
          </a:prstGeom>
          <a:solidFill>
            <a:srgbClr val="B1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77484"/>
                </a:solidFill>
                <a:latin typeface="Aptos"/>
              </a:rPr>
              <a:t>BUSINESS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32B34"/>
                </a:solidFill>
                <a:latin typeface="Aptos"/>
              </a:rPr>
              <a:t>Bestsellers can stock out while slow movers accumulate, creating service risk and tied-up inventory.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18288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1828800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5544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77484"/>
                </a:solidFill>
                <a:latin typeface="Aptos"/>
              </a:rPr>
              <a:t>CORE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258568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32B34"/>
                </a:solidFill>
                <a:latin typeface="Aptos"/>
              </a:rPr>
              <a:t>Provide demand forecasts and early-warning signals so teams know what to reorder, clear or monitor.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383280" cy="18288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73152" cy="1828800"/>
          </a:xfrm>
          <a:prstGeom prst="rect">
            <a:avLst/>
          </a:prstGeom>
          <a:solidFill>
            <a:srgbClr val="26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55448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77484"/>
                </a:solidFill>
                <a:latin typeface="Aptos"/>
              </a:rPr>
              <a:t>DECISION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58568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32B34"/>
                </a:solidFill>
                <a:latin typeface="Aptos"/>
              </a:rPr>
              <a:t>Forecast → risk flag → recommended action → rupee value at stake.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114800"/>
            <a:ext cx="205740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23A"/>
                </a:solidFill>
                <a:latin typeface="Aptos"/>
              </a:defRPr>
            </a:pPr>
            <a:r>
              <a:t>Demand</a:t>
            </a:r>
            <a:br/>
            <a:r>
              <a:t>forecast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3320" y="4114800"/>
            <a:ext cx="205740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BE8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23A"/>
                </a:solidFill>
                <a:latin typeface="Aptos"/>
              </a:defRPr>
            </a:pPr>
            <a:r>
              <a:t>Inventory</a:t>
            </a:r>
            <a:br/>
            <a:r>
              <a:t>risk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114800"/>
            <a:ext cx="205740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317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23A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4114800"/>
            <a:ext cx="2057400" cy="914400"/>
          </a:xfrm>
          <a:prstGeom prst="roundRect">
            <a:avLst/>
          </a:prstGeom>
          <a:solidFill>
            <a:srgbClr val="F3F7FA"/>
          </a:solidFill>
          <a:ln>
            <a:solidFill>
              <a:srgbClr val="2682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2223A"/>
                </a:solidFill>
                <a:latin typeface="Aptos"/>
              </a:defRPr>
            </a:pPr>
            <a:r>
              <a:t>Business</a:t>
            </a:r>
            <a:br/>
            <a:r>
              <a:t>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77484"/>
                </a:solidFill>
                <a:latin typeface="Aptos"/>
              </a:rPr>
              <a:t>Project FORESIGHT  |  NorthBay Living  |  Team 22  |  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2223A"/>
                </a:solidFill>
                <a:latin typeface="Aptos"/>
              </a:rPr>
              <a:t>EDA: Category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77484"/>
                </a:solidFill>
                <a:latin typeface="Aptos"/>
              </a:rPr>
              <a:t>Revenue, demand and inventory-risk signals by category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17320"/>
          <a:ext cx="70408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25880"/>
                <a:gridCol w="1143000"/>
                <a:gridCol w="1234440"/>
                <a:gridCol w="1325880"/>
              </a:tblGrid>
              <a:tr h="73152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Category</a:t>
                      </a:r>
                    </a:p>
                  </a:txBody>
                  <a:tcPr marL="64008" marT="27432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Revenue</a:t>
                      </a:r>
                    </a:p>
                  </a:txBody>
                  <a:tcPr marL="64008" marT="27432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Demand</a:t>
                      </a:r>
                    </a:p>
                  </a:txBody>
                  <a:tcPr marL="64008" marT="27432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Stockouts</a:t>
                      </a:r>
                    </a:p>
                  </a:txBody>
                  <a:tcPr marL="64008" marT="27432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Overstock</a:t>
                      </a:r>
                    </a:p>
                  </a:txBody>
                  <a:tcPr marL="64008" marT="27432">
                    <a:solidFill>
                      <a:srgbClr val="12223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Grocery</a:t>
                      </a:r>
                    </a:p>
                  </a:txBody>
                  <a:tcPr marL="64008" marT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₹8.61 Cr</a:t>
                      </a:r>
                    </a:p>
                  </a:txBody>
                  <a:tcPr marL="64008" marT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33,396</a:t>
                      </a:r>
                    </a:p>
                  </a:txBody>
                  <a:tcPr marL="64008" marT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19</a:t>
                      </a:r>
                    </a:p>
                  </a:txBody>
                  <a:tcPr marL="64008" marT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64008" marT="27432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Personal Care</a:t>
                      </a:r>
                    </a:p>
                  </a:txBody>
                  <a:tcPr marL="64008" marT="27432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₹6.25 Cr</a:t>
                      </a:r>
                    </a:p>
                  </a:txBody>
                  <a:tcPr marL="64008" marT="27432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25,619</a:t>
                      </a:r>
                    </a:p>
                  </a:txBody>
                  <a:tcPr marL="64008" marT="27432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9</a:t>
                      </a:r>
                    </a:p>
                  </a:txBody>
                  <a:tcPr marL="64008" marT="27432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marL="64008" marT="27432">
                    <a:solidFill>
                      <a:srgbClr val="F3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Apparel</a:t>
                      </a:r>
                    </a:p>
                  </a:txBody>
                  <a:tcPr marL="64008" marT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₹4.89 Cr</a:t>
                      </a:r>
                    </a:p>
                  </a:txBody>
                  <a:tcPr marL="64008" marT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20,100</a:t>
                      </a:r>
                    </a:p>
                  </a:txBody>
                  <a:tcPr marL="64008" marT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64008" marT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64</a:t>
                      </a:r>
                    </a:p>
                  </a:txBody>
                  <a:tcPr marL="64008" marT="27432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Home &amp; Kitchen</a:t>
                      </a:r>
                    </a:p>
                  </a:txBody>
                  <a:tcPr marL="64008" marT="27432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₹4.42 Cr</a:t>
                      </a:r>
                    </a:p>
                  </a:txBody>
                  <a:tcPr marL="64008" marT="27432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17,806</a:t>
                      </a:r>
                    </a:p>
                  </a:txBody>
                  <a:tcPr marL="64008" marT="27432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64008" marT="27432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150</a:t>
                      </a:r>
                    </a:p>
                  </a:txBody>
                  <a:tcPr marL="64008" marT="27432">
                    <a:solidFill>
                      <a:srgbClr val="F3F7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Electronics</a:t>
                      </a:r>
                    </a:p>
                  </a:txBody>
                  <a:tcPr marL="64008" marT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₹2.80 Cr</a:t>
                      </a:r>
                    </a:p>
                  </a:txBody>
                  <a:tcPr marL="64008" marT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10,964</a:t>
                      </a:r>
                    </a:p>
                  </a:txBody>
                  <a:tcPr marL="64008" marT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64008" marT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281</a:t>
                      </a:r>
                    </a:p>
                  </a:txBody>
                  <a:tcPr marL="64008" marT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001000" y="1417320"/>
            <a:ext cx="3429000" cy="123444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01000" y="1417320"/>
            <a:ext cx="73152" cy="1234440"/>
          </a:xfrm>
          <a:prstGeom prst="rect">
            <a:avLst/>
          </a:prstGeom>
          <a:solidFill>
            <a:srgbClr val="B1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77484"/>
                </a:solidFill>
                <a:latin typeface="Aptos"/>
              </a:rPr>
              <a:t>GROCERY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856232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2223A"/>
                </a:solidFill>
                <a:latin typeface="Aptos"/>
              </a:rPr>
              <a:t>19 stockout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25856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32B34"/>
                </a:solidFill>
                <a:latin typeface="Aptos"/>
              </a:rPr>
              <a:t>Highest revenue and demand.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788920"/>
            <a:ext cx="3429000" cy="123444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2788920"/>
            <a:ext cx="73152" cy="1234440"/>
          </a:xfrm>
          <a:prstGeom prst="rect">
            <a:avLst/>
          </a:prstGeom>
          <a:solidFill>
            <a:srgbClr val="BE8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926079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77484"/>
                </a:solidFill>
                <a:latin typeface="Aptos"/>
              </a:rPr>
              <a:t>ELECTRONICS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227832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2223A"/>
                </a:solidFill>
                <a:latin typeface="Aptos"/>
              </a:rPr>
              <a:t>281 overstock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63016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32B34"/>
                </a:solidFill>
                <a:latin typeface="Aptos"/>
              </a:rPr>
              <a:t>Largest overstock burden.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4160520"/>
            <a:ext cx="3429000" cy="123444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4160520"/>
            <a:ext cx="73152" cy="1234440"/>
          </a:xfrm>
          <a:prstGeom prst="rect">
            <a:avLst/>
          </a:prstGeom>
          <a:solidFill>
            <a:srgbClr val="BE8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297680"/>
            <a:ext cx="3063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77484"/>
                </a:solidFill>
                <a:latin typeface="Aptos"/>
              </a:rPr>
              <a:t>HOME &amp; KITCHEN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599431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2223A"/>
                </a:solidFill>
                <a:latin typeface="Aptos"/>
              </a:rPr>
              <a:t>150 overstock records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00176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32B34"/>
                </a:solidFill>
                <a:latin typeface="Aptos"/>
              </a:rPr>
              <a:t>Review markdown / clearance.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77484"/>
                </a:solidFill>
                <a:latin typeface="Aptos"/>
              </a:rPr>
              <a:t>Project FORESIGHT  |  NorthBay Living  |  Team 22  |  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2223A"/>
                </a:solidFill>
                <a:latin typeface="Aptos"/>
              </a:rPr>
              <a:t>Inventory Risk &amp; Decisioning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77484"/>
                </a:solidFill>
                <a:latin typeface="Aptos"/>
              </a:rPr>
              <a:t>Translate forecast and inventory position into operational 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2560320" cy="18288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73152" cy="1828800"/>
          </a:xfrm>
          <a:prstGeom prst="rect">
            <a:avLst/>
          </a:prstGeom>
          <a:solidFill>
            <a:srgbClr val="B1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77484"/>
                </a:solidFill>
                <a:latin typeface="Aptos"/>
              </a:rPr>
              <a:t>REORDER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32B34"/>
                </a:solidFill>
                <a:latin typeface="Aptos"/>
              </a:rPr>
              <a:t>Forecast over lead time is greater than available + on-order inventory. Prioritise replenishment.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71600"/>
            <a:ext cx="2560320" cy="18288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371600"/>
            <a:ext cx="73152" cy="1828800"/>
          </a:xfrm>
          <a:prstGeom prst="rect">
            <a:avLst/>
          </a:prstGeom>
          <a:solidFill>
            <a:srgbClr val="BE8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5087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77484"/>
                </a:solidFill>
                <a:latin typeface="Aptos"/>
              </a:rPr>
              <a:t>MARKDOWN / CLEAR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212848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32B34"/>
                </a:solidFill>
                <a:latin typeface="Aptos"/>
              </a:rPr>
              <a:t>On-hand inventory is high relative to forward demand. Review clearance options.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71600"/>
            <a:ext cx="2560320" cy="18288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371600"/>
            <a:ext cx="73152" cy="1828800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77484"/>
                </a:solidFill>
                <a:latin typeface="Aptos"/>
              </a:rPr>
              <a:t>WATCH / VOLATILE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12848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32B34"/>
                </a:solidFill>
                <a:latin typeface="Aptos"/>
              </a:rPr>
              <a:t>Monitor demand and forecast uncertainty before committing more inventory.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1371600"/>
            <a:ext cx="2560320" cy="182880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5400" y="1371600"/>
            <a:ext cx="73152" cy="1828800"/>
          </a:xfrm>
          <a:prstGeom prst="rect">
            <a:avLst/>
          </a:prstGeom>
          <a:solidFill>
            <a:srgbClr val="31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5087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77484"/>
                </a:solidFill>
                <a:latin typeface="Aptos"/>
              </a:rPr>
              <a:t>HEALTHY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212848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32B34"/>
                </a:solidFill>
                <a:latin typeface="Aptos"/>
              </a:rPr>
              <a:t>Inventory position is broadly aligned with forecast demand and thresholds.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3931920"/>
            <a:ext cx="3017520" cy="123444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88720" y="3931920"/>
            <a:ext cx="73152" cy="1234440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40690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77484"/>
                </a:solidFill>
                <a:latin typeface="Aptos"/>
              </a:rPr>
              <a:t>RECOMMENDED ORDER QTY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370831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2223A"/>
                </a:solidFill>
                <a:latin typeface="Aptos"/>
              </a:rPr>
              <a:t>373,375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7731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32B34"/>
                </a:solidFill>
                <a:latin typeface="Aptos"/>
              </a:rPr>
              <a:t>Supplied planning output.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3931920"/>
            <a:ext cx="3017520" cy="123444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3931920"/>
            <a:ext cx="73152" cy="1234440"/>
          </a:xfrm>
          <a:prstGeom prst="rect">
            <a:avLst/>
          </a:prstGeom>
          <a:solidFill>
            <a:srgbClr val="B1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40690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77484"/>
                </a:solidFill>
                <a:latin typeface="Aptos"/>
              </a:rPr>
              <a:t>STOCKOUT RECORDS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4370831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2223A"/>
                </a:solidFill>
                <a:latin typeface="Aptos"/>
              </a:rPr>
              <a:t>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47731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32B34"/>
                </a:solidFill>
                <a:latin typeface="Aptos"/>
              </a:rPr>
              <a:t>Recorded in the dataset.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79" y="3931920"/>
            <a:ext cx="3017520" cy="123444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55279" y="3931920"/>
            <a:ext cx="73152" cy="1234440"/>
          </a:xfrm>
          <a:prstGeom prst="rect">
            <a:avLst/>
          </a:prstGeom>
          <a:solidFill>
            <a:srgbClr val="BE8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79" y="40690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77484"/>
                </a:solidFill>
                <a:latin typeface="Aptos"/>
              </a:rPr>
              <a:t>OVERSTOCK RECORDS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4370831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2223A"/>
                </a:solidFill>
                <a:latin typeface="Aptos"/>
              </a:rPr>
              <a:t>507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47731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32B34"/>
                </a:solidFill>
                <a:latin typeface="Aptos"/>
              </a:rPr>
              <a:t>Concentrated in Electronics and Home &amp; Kitchen.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77484"/>
                </a:solidFill>
                <a:latin typeface="Aptos"/>
              </a:rPr>
              <a:t>Project FORESIGHT  |  NorthBay Living  |  Team 22  |  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2223A"/>
                </a:solidFill>
                <a:latin typeface="Aptos"/>
              </a:rPr>
              <a:t>Forecasting Approach &amp; Model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77484"/>
                </a:solidFill>
                <a:latin typeface="Aptos"/>
              </a:rPr>
              <a:t>Keep the forecast measurable, leakage-free and honest about what is currently supplied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50">
                <a:solidFill>
                  <a:srgbClr val="232B34"/>
                </a:solidFill>
                <a:latin typeface="Aptos"/>
              </a:defRPr>
            </a:pPr>
            <a:r>
              <a:t>• Current workbook contains a 7-day planning forecast field (Forecast_Demand_7D) alongside safety stock, reorder point and order quantity.</a:t>
            </a:r>
          </a:p>
          <a:p>
            <a:pPr>
              <a:spcAft>
                <a:spcPts val="1100"/>
              </a:spcAft>
              <a:defRPr sz="1450">
                <a:solidFill>
                  <a:srgbClr val="232B34"/>
                </a:solidFill>
                <a:latin typeface="Aptos"/>
              </a:defRPr>
            </a:pPr>
            <a:r>
              <a:t>• For a full modelling submission, establish a seasonal-naive baseline and evaluate candidate models using rolling-origin validation.</a:t>
            </a:r>
          </a:p>
          <a:p>
            <a:pPr>
              <a:spcAft>
                <a:spcPts val="1100"/>
              </a:spcAft>
              <a:defRPr sz="1450">
                <a:solidFill>
                  <a:srgbClr val="232B34"/>
                </a:solidFill>
                <a:latin typeface="Aptos"/>
              </a:defRPr>
            </a:pPr>
            <a:r>
              <a:t>• Use WAPE as the primary accuracy metric and prevent future information from entering training features.</a:t>
            </a:r>
          </a:p>
          <a:p>
            <a:pPr>
              <a:spcAft>
                <a:spcPts val="1100"/>
              </a:spcAft>
              <a:defRPr sz="1450">
                <a:solidFill>
                  <a:srgbClr val="232B34"/>
                </a:solidFill>
                <a:latin typeface="Aptos"/>
              </a:defRPr>
            </a:pPr>
            <a:r>
              <a:t>• Compare the model against the baseline; if the model does not improve on the baseline, ship the baseline and report that result.</a:t>
            </a:r>
          </a:p>
          <a:p>
            <a:pPr>
              <a:spcAft>
                <a:spcPts val="1100"/>
              </a:spcAft>
              <a:defRPr sz="1450">
                <a:solidFill>
                  <a:srgbClr val="232B34"/>
                </a:solidFill>
                <a:latin typeface="Aptos"/>
              </a:defRPr>
            </a:pPr>
            <a:r>
              <a:t>• Limitation: the supplied workbook does not document a newly trained rolling-origin model comparison, so this presentation does not claim 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486400"/>
            <a:ext cx="10332720" cy="50292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2223A"/>
                </a:solidFill>
                <a:latin typeface="Aptos"/>
              </a:defRPr>
            </a:pPr>
            <a:r>
              <a:t>Baseline → Rolling-origin CV → WAPE → Model vs Baseline → Honest release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77484"/>
                </a:solidFill>
                <a:latin typeface="Aptos"/>
              </a:rPr>
              <a:t>Project FORESIGHT  |  NorthBay Living  |  Team 22  |  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2223A"/>
                </a:solidFill>
                <a:latin typeface="Aptos"/>
              </a:rPr>
              <a:t>Planning Dashboard &amp; Submission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77484"/>
                </a:solidFill>
                <a:latin typeface="Aptos"/>
              </a:rPr>
              <a:t>Make the analysis usable by non-technical operations and finance users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28016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73152" cy="1280160"/>
          </a:xfrm>
          <a:prstGeom prst="rect">
            <a:avLst/>
          </a:prstGeom>
          <a:solidFill>
            <a:srgbClr val="26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77484"/>
                </a:solidFill>
                <a:latin typeface="Aptos"/>
              </a:rPr>
              <a:t>DASHBOARD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301752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32B34"/>
                </a:solidFill>
                <a:latin typeface="Aptos"/>
              </a:rPr>
              <a:t>Revenue, demand, sales, stockouts and SKU coverage.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88920"/>
            <a:ext cx="3383280" cy="128016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788920"/>
            <a:ext cx="73152" cy="1280160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26079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77484"/>
                </a:solidFill>
                <a:latin typeface="Aptos"/>
              </a:rPr>
              <a:t>VISUAL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30168"/>
            <a:ext cx="301752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32B34"/>
                </a:solidFill>
                <a:latin typeface="Aptos"/>
              </a:rPr>
              <a:t>Category performance, risk distribution and daily demand vs sales.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206240"/>
            <a:ext cx="3383280" cy="128016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206240"/>
            <a:ext cx="73152" cy="1280160"/>
          </a:xfrm>
          <a:prstGeom prst="rect">
            <a:avLst/>
          </a:prstGeom>
          <a:solidFill>
            <a:srgbClr val="31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77484"/>
                </a:solidFill>
                <a:latin typeface="Aptos"/>
              </a:rPr>
              <a:t>PLANNING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47488"/>
            <a:ext cx="301752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32B34"/>
                </a:solidFill>
                <a:latin typeface="Aptos"/>
              </a:rPr>
              <a:t>Forecast/risk fields, order quantity and action signals.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389120" y="1325880"/>
          <a:ext cx="704088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486400"/>
              </a:tblGrid>
              <a:tr h="634365"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Deliverable</a:t>
                      </a:r>
                    </a:p>
                  </a:txBody>
                  <a:tcPr marL="64008" marT="27432">
                    <a:solidFill>
                      <a:srgbClr val="1222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Submission evidence</a:t>
                      </a:r>
                    </a:p>
                  </a:txBody>
                  <a:tcPr marL="64008" marT="27432">
                    <a:solidFill>
                      <a:srgbClr val="12223A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D1 Data pipeline</a:t>
                      </a:r>
                    </a:p>
                  </a:txBody>
                  <a:tcPr marL="64008" marT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Cleaned analysis-ready dataset</a:t>
                      </a:r>
                    </a:p>
                  </a:txBody>
                  <a:tcPr marL="64008" marT="27432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D2 EDA memo</a:t>
                      </a:r>
                    </a:p>
                  </a:txBody>
                  <a:tcPr marL="64008" marT="27432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Data quality + business insights</a:t>
                      </a:r>
                    </a:p>
                  </a:txBody>
                  <a:tcPr marL="64008" marT="27432">
                    <a:solidFill>
                      <a:srgbClr val="F3F7FA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D3 Forecast</a:t>
                      </a:r>
                    </a:p>
                  </a:txBody>
                  <a:tcPr marL="64008" marT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Baseline + CV/WAPE methodology</a:t>
                      </a:r>
                    </a:p>
                  </a:txBody>
                  <a:tcPr marL="64008" marT="27432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D4 Risk scoring</a:t>
                      </a:r>
                    </a:p>
                  </a:txBody>
                  <a:tcPr marL="64008" marT="27432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Stockout/overstock logic + actions</a:t>
                      </a:r>
                    </a:p>
                  </a:txBody>
                  <a:tcPr marL="64008" marT="27432">
                    <a:solidFill>
                      <a:srgbClr val="F3F7FA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D5 Dashboard</a:t>
                      </a:r>
                    </a:p>
                  </a:txBody>
                  <a:tcPr marL="64008" marT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Usable planning interface</a:t>
                      </a:r>
                    </a:p>
                  </a:txBody>
                  <a:tcPr marL="64008" marT="27432"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D6 Service</a:t>
                      </a:r>
                    </a:p>
                  </a:txBody>
                  <a:tcPr marL="64008" marT="27432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Documented scoring endpoint / deployment</a:t>
                      </a:r>
                    </a:p>
                  </a:txBody>
                  <a:tcPr marL="64008" marT="27432">
                    <a:solidFill>
                      <a:srgbClr val="F3F7FA"/>
                    </a:solidFill>
                  </a:tcPr>
                </a:tc>
              </a:tr>
              <a:tr h="634365"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D7 Executive readout</a:t>
                      </a:r>
                    </a:p>
                  </a:txBody>
                  <a:tcPr marL="64008" marT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0">
                          <a:solidFill>
                            <a:srgbClr val="232B34"/>
                          </a:solidFill>
                          <a:latin typeface="Aptos"/>
                        </a:defRPr>
                      </a:pPr>
                      <a:r>
                        <a:t>This presentation + limitations</a:t>
                      </a:r>
                    </a:p>
                  </a:txBody>
                  <a:tcPr marL="64008" marT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77484"/>
                </a:solidFill>
                <a:latin typeface="Aptos"/>
              </a:rPr>
              <a:t>Project FORESIGHT  |  NorthBay Living  |  Team 22  |  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2223A"/>
                </a:solidFill>
                <a:latin typeface="Aptos"/>
              </a:rPr>
              <a:t>Recommendations &amp; Business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77484"/>
                </a:solidFill>
                <a:latin typeface="Aptos"/>
              </a:rPr>
              <a:t>Convert the observed signals into an operational review 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57800" cy="123444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1234440"/>
          </a:xfrm>
          <a:prstGeom prst="rect">
            <a:avLst/>
          </a:prstGeom>
          <a:solidFill>
            <a:srgbClr val="B1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77484"/>
                </a:solidFill>
                <a:latin typeface="Aptos"/>
              </a:rPr>
              <a:t>1  PROTECT AVAILABILITY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1051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2223A"/>
                </a:solidFill>
                <a:latin typeface="Aptos"/>
              </a:rPr>
              <a:t>Grocery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12848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32B34"/>
                </a:solidFill>
                <a:latin typeface="Aptos"/>
              </a:rPr>
              <a:t>Prioritise replenishment review for high-demand SKUs with stockout signals.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5257800" cy="123444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743200"/>
            <a:ext cx="73152" cy="1234440"/>
          </a:xfrm>
          <a:prstGeom prst="rect">
            <a:avLst/>
          </a:prstGeom>
          <a:solidFill>
            <a:srgbClr val="BE8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88036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77484"/>
                </a:solidFill>
                <a:latin typeface="Aptos"/>
              </a:rPr>
              <a:t>2  REDUCE TIED-UP 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8211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2223A"/>
                </a:solidFill>
                <a:latin typeface="Aptos"/>
              </a:rPr>
              <a:t>Electronics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84448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32B34"/>
                </a:solidFill>
                <a:latin typeface="Aptos"/>
              </a:rPr>
              <a:t>Review slow-moving inventory, markdown/clearance and reorder settings.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14800"/>
            <a:ext cx="5257800" cy="123444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114800"/>
            <a:ext cx="73152" cy="1234440"/>
          </a:xfrm>
          <a:prstGeom prst="rect">
            <a:avLst/>
          </a:prstGeom>
          <a:solidFill>
            <a:srgbClr val="BE8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25196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77484"/>
                </a:solidFill>
                <a:latin typeface="Aptos"/>
              </a:rPr>
              <a:t>3  RATIONALISE STOCK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55371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2223A"/>
                </a:solidFill>
                <a:latin typeface="Aptos"/>
              </a:rPr>
              <a:t>Home &amp; Kitchen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956048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32B34"/>
                </a:solidFill>
                <a:latin typeface="Aptos"/>
              </a:rPr>
              <a:t>Review 150 overstock records and align future buys with demand.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371600"/>
            <a:ext cx="5257800" cy="123444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73152" cy="1234440"/>
          </a:xfrm>
          <a:prstGeom prst="rect">
            <a:avLst/>
          </a:prstGeom>
          <a:solidFill>
            <a:srgbClr val="2A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50876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77484"/>
                </a:solidFill>
                <a:latin typeface="Aptos"/>
              </a:rPr>
              <a:t>4  PRIORITISE AT SKU LEVEL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81051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2223A"/>
                </a:solidFill>
                <a:latin typeface="Aptos"/>
              </a:rPr>
              <a:t>SKU-level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212848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32B34"/>
                </a:solidFill>
                <a:latin typeface="Aptos"/>
              </a:rPr>
              <a:t>Use forecast, on-hand, on-order and lead time together.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743200"/>
            <a:ext cx="5257800" cy="123444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2743200"/>
            <a:ext cx="73152" cy="1234440"/>
          </a:xfrm>
          <a:prstGeom prst="rect">
            <a:avLst/>
          </a:prstGeom>
          <a:solidFill>
            <a:srgbClr val="26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88036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77484"/>
                </a:solidFill>
                <a:latin typeface="Aptos"/>
              </a:rPr>
              <a:t>5  VALIDATE THE FORECAST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18211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2223A"/>
                </a:solidFill>
                <a:latin typeface="Aptos"/>
              </a:rPr>
              <a:t>Governance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584448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32B34"/>
                </a:solidFill>
                <a:latin typeface="Aptos"/>
              </a:rPr>
              <a:t>Run seasonal-naive baseline, rolling-origin CV and WAPE.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114800"/>
            <a:ext cx="5257800" cy="123444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4114800"/>
            <a:ext cx="73152" cy="1234440"/>
          </a:xfrm>
          <a:prstGeom prst="rect">
            <a:avLst/>
          </a:prstGeom>
          <a:solidFill>
            <a:srgbClr val="317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25196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77484"/>
                </a:solidFill>
                <a:latin typeface="Aptos"/>
              </a:rPr>
              <a:t>6  TRACK IMPACT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55371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2223A"/>
                </a:solidFill>
                <a:latin typeface="Aptos"/>
              </a:rPr>
              <a:t>Finance + Ops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956048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232B34"/>
                </a:solidFill>
                <a:latin typeface="Aptos"/>
              </a:rPr>
              <a:t>Measure service improvement, inventory reduction and rupee value affected.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77484"/>
                </a:solidFill>
                <a:latin typeface="Aptos"/>
              </a:rPr>
              <a:t>Project FORESIGHT  |  NorthBay Living  |  Team 22  |  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ptos"/>
              </a:rPr>
              <a:t>Decision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874519"/>
            <a:ext cx="9692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"/>
              </a:rPr>
              <a:t>Use demand signals to protect availability while actively reducing excess inventory.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063240"/>
            <a:ext cx="9692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DDCE8"/>
                </a:solidFill>
                <a:latin typeface="Aptos"/>
              </a:rPr>
              <a:t>The supplied data shows clear category-level differences in stockout and overstock exposure.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4251960"/>
            <a:ext cx="2971800" cy="105156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" y="4251960"/>
            <a:ext cx="73152" cy="1051560"/>
          </a:xfrm>
          <a:prstGeom prst="rect">
            <a:avLst/>
          </a:prstGeom>
          <a:solidFill>
            <a:srgbClr val="268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3891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77484"/>
                </a:solidFill>
                <a:latin typeface="Aptos"/>
              </a:rPr>
              <a:t>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69087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2223A"/>
                </a:solidFill>
                <a:latin typeface="Aptos"/>
              </a:rPr>
              <a:t>₹26.97 Cr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4251960"/>
            <a:ext cx="2971800" cy="105156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4251960"/>
            <a:ext cx="73152" cy="1051560"/>
          </a:xfrm>
          <a:prstGeom prst="rect">
            <a:avLst/>
          </a:prstGeom>
          <a:solidFill>
            <a:srgbClr val="B1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43891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77484"/>
                </a:solidFill>
                <a:latin typeface="Aptos"/>
              </a:rPr>
              <a:t>STOCKOUT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69087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2223A"/>
                </a:solidFill>
                <a:latin typeface="Aptos"/>
              </a:rPr>
              <a:t>31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4251960"/>
            <a:ext cx="2971800" cy="1051560"/>
          </a:xfrm>
          <a:prstGeom prst="roundRect">
            <a:avLst/>
          </a:prstGeom>
          <a:solidFill>
            <a:srgbClr val="F3F7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4251960"/>
            <a:ext cx="73152" cy="1051560"/>
          </a:xfrm>
          <a:prstGeom prst="rect">
            <a:avLst/>
          </a:prstGeom>
          <a:solidFill>
            <a:srgbClr val="BE8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43891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77484"/>
                </a:solidFill>
                <a:latin typeface="Aptos"/>
              </a:rPr>
              <a:t>OVERSTOCK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69087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2223A"/>
                </a:solidFill>
                <a:latin typeface="Aptos"/>
              </a:rPr>
              <a:t>507 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DDCE8"/>
                </a:solidFill>
                <a:latin typeface="Aptos"/>
              </a:rPr>
              <a:t>Project FORESIGHT  •  NorthBay Living  •  Team 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77484"/>
                </a:solidFill>
                <a:latin typeface="Aptos"/>
              </a:rPr>
              <a:t>Project FORESIGHT  |  NorthBay Living  |  Team 22  |  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FORESIGHT – Executive Presentation</dc:title>
  <dc:subject/>
  <dc:creator>Team 22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